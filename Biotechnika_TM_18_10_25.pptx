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3"/>
  </p:notesMasterIdLst>
  <p:handoutMasterIdLst>
    <p:handoutMasterId r:id="rId14"/>
  </p:handoutMasterIdLst>
  <p:sldIdLst>
    <p:sldId id="256" r:id="rId4"/>
    <p:sldId id="257" r:id="rId5"/>
    <p:sldId id="263" r:id="rId6"/>
    <p:sldId id="264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32C5"/>
    <a:srgbClr val="1E8C32"/>
    <a:srgbClr val="FA4545"/>
    <a:srgbClr val="00E6E6"/>
    <a:srgbClr val="FFFFFF"/>
    <a:srgbClr val="158AAE"/>
    <a:srgbClr val="39B38D"/>
    <a:srgbClr val="4AB581"/>
    <a:srgbClr val="2E64A0"/>
    <a:srgbClr val="83B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18051B-D2D2-4C15-9631-4FDA08EC05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D7A6E-2A99-4752-8C3D-794EDD66E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ECE8F-E09B-4D78-8A41-08C5CE65FB90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788CB-7850-428D-9554-B1A22A3F11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99334-BAF8-4FB5-9F99-2D3E8F1ABC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099B6-84EF-4D98-86CD-D4839EC28D4B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42374796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4B77F-49B8-4B2F-9E9F-34A5536B6C4F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61F4C-0B8A-472F-BE73-51770228A41B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5319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1F5E-2652-424D-A96C-10CC713D1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3CDBD-E837-405B-B3E5-66CCC4F07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14F06-4001-475C-9CE2-201261251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116E6-5258-4CC1-A211-F875D8D1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11DA8-B43A-4F63-AC52-A95AA15A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177346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E0CDF-4929-447E-9FAD-E1A1FFF35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B3775-B17E-4F95-B34A-D12870879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2710E-B08B-496E-9B35-82228E54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F09CC-7B88-4B49-A0A4-C8358AF0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AA703-3C41-47D7-801E-1AB41864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118775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5F20F-E933-4BB3-8914-E41B7F288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40593-F33E-4120-833A-D076FB3A0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56D90-35E6-4698-B08F-87DF3600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E8307-45FD-470B-AF07-A6B16CC5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6A7B0-3B06-403A-8EEB-70A6F09F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184864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B65D-82E9-4F2C-AEA3-CD10962B3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6C198-3C00-4482-87F4-7D6280634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69DD3-EAE4-4E9B-8288-6E989BDEE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3A7A8-3171-4F20-9F8F-9EBBF982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AF485-8657-4F11-89B9-FE62C60B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DBFF3-70F2-432A-9E83-BFCE0E45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014411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05CB4-7157-4113-B7DD-538FE7C3F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17BD0-8154-4A6D-8376-5A5BF24DF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107A9-B646-4CEC-8694-1CC21319C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3C994-36DC-4C4E-9B83-20A101387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1846AE-4B2F-4105-8465-A6E7E94AD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3DFB7E-A981-42AA-B21F-42B2AE2A2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19A68-2CA2-4052-9E04-F6A54DCE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1B448-6E1C-4A21-B053-3E376E5C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43322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9D9A-11C6-4918-AA3D-C1878D49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3D24C-F4B1-4F8F-840D-21F371E0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FCB23-E523-40CB-9294-CC0B0E17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8081C-FF30-43B1-8771-FF584B01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52723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85496D-2E8D-48AA-942A-213D882E3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10E127-A6A0-41CD-AB84-85D26DE3D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0B193-0924-4D12-B6DF-ECEE48A84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0756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6C9B7-E95A-47C9-8FB8-50945AA4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AC847-C5F3-48D9-AA4E-779FEBE7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37074-0359-4271-8213-1729A69D5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6F82D-5F50-4E5D-AB51-68F2ECE5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D61ED-6C69-49A8-AEBC-572BA2F6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98AE4-5E0E-4CC6-A524-DC592D68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1549737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8611-EFFE-4B24-8679-27044CE9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6FC2A1-65A2-43B2-92B9-CC566638A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B73A2-D8F3-4611-AB1C-69F16E61C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47957-B525-4705-8FD7-1A0D74C5E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4BC28-4099-4ED2-9B82-D7483CBF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46F68-03B0-4BE8-93CE-27CF5155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451294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9C0B-CBA8-409B-B030-B05C0DA8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5AE41-58E8-4501-BF00-8E0EE7FE8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506BB-C35B-44AD-9826-6410BB63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1F8BD-9872-404C-94AE-1DBA4F3B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3996B-DB62-4E9A-AB5C-84AD0981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410564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EB7258-7458-4B52-8D07-D5BFF6801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7132F-9879-404B-807D-A784BBDAF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D3AD3-E5A6-45BE-8541-25EF0DF8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CF8D3-2E3B-454A-AAB4-8AD6A8B5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9652D-19CB-4B94-A464-DE138262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654897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515E-14BE-4223-81EF-FB98A30BC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DFD08-F741-460A-B6D6-01202B9FA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7247B-24C2-4BDD-A7A9-D428D6D9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5094F-F710-4B00-9E2E-AC81E703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7B0B5-CDD7-42C8-863E-FD74E876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229221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8580-147A-4C20-A4F9-6D9E2F361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B7D74-7AEB-4417-AEE5-7E8EE9A9A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9D604-C192-4BB4-9499-3AC93C05F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DC72A-DC70-4130-9608-7E1DDFD20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906F6-A20A-4214-98FA-ADFF5A2C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395988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6F98-6A47-48B0-9A8E-81DF5031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68518-DA47-4D6C-8E5B-BEDFF5CB2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AC703-E3A6-49F3-9ACD-3FE32427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63CBB-F449-4A85-9ABA-B2C01B03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93DED-5317-4079-9B7D-DBFFCD39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860148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E2C4-686F-47E8-B11F-5A759CEC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C36D2-328F-4F83-B4E1-F1235402E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D00FB-B881-4F1C-A7A3-17303F762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FAC4D-7025-4EC0-B8C9-5C85134C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CB583-3093-4D7C-B52D-BF3007E6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982D4-EDFB-48D9-BBDB-797DD932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391991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828-626C-4924-8E56-2A3BD2636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C899F-9149-4A46-AB9A-3F6299597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0CAD1-773B-48F9-8002-B9FD4F764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CC1AC-DEA9-4C03-888F-D140B7530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7D087-BB38-4327-8CCD-A94D6B03F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EBEFA4-38CE-4152-AC1F-4FDE91D9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AE450-0153-44DC-8A6D-336BF2537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FB1F1-754F-4999-9007-9637EA09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1908577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5EF66-155C-4302-8D9F-59599FE4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73548-5936-48FD-BB45-E47BB295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E09AE-28D8-4C7A-8BF7-485A27FE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AF57A-357E-40C1-B769-9EC93D98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869908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1AE49-2877-4EC3-97E1-EAAB18773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AD06E-7800-4082-94D5-88FBC456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75D64-8F9F-428C-8A93-36BC0C6E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11203609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7385-576D-4AEC-A941-5806D98E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28AC2-8244-412B-9A49-4B0C897B5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BD18C-956B-4E03-A4B1-47A12D00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9AD24-A2BB-45B1-9BB1-858F5457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608FD-F94D-45B5-AB6C-F8360F6F1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2743-8958-48F7-B066-13B2AE95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437870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79E6-A518-4721-BB6A-0DBF38B4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6FD7-D1FE-4794-AE3A-9425F5315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BABF6-15BF-46F4-B98F-9489823FC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A755F-5AED-4A88-BF72-B5048450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5335-D1B9-444C-8107-0E3E912E7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67AA7-2D3A-45F2-A482-2C503E29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9114913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5BB1F-2D67-4635-93C7-C6921FC4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DDA3B-3389-43D2-BDD3-552CB8AA1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9260A-774B-4819-A255-96654DF4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45FE6-F619-4DE5-86C0-0F83D5BA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4F62C-735E-4B6B-ADD3-708335FA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191252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34D631-9935-499C-AFBB-D5C56F0D3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EE1A8-AB2B-4D4E-8786-44067AF75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84ED4-F5FF-48D3-BDDD-23131711A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FABB2-74E0-4D2D-8E99-85141EE5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A88B7-51C3-4F2A-B860-411529B60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4255442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6CF6-2EDA-4292-A61D-93067A04F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1D871-1F98-42A6-B363-2D5CCF0DE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189CA-BCE9-424F-B607-B9607A8B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9B723-A500-4627-83FC-E49F181C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99044-4E5C-4822-B74D-BDBF774A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007469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2B122-8496-4571-8D74-E12700DF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F711C-B459-4EC0-9CFA-63CEB1ABA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191B-836D-4DED-A0CF-8FF215BF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FB918-4697-4F69-B5CF-04C76299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597F1-BD1A-43C1-97F8-71AA04A6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188746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80AE-BB66-4FE8-991D-70869A543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F52E3-D55E-4BF0-A152-41674276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210F6-DA15-44A2-A135-AD686A33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F289A-5F45-478A-AD5F-27206C4AA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39702-CEEC-4BCA-AC88-7F0E2753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1506758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8BD7-CD43-4BFA-ADF1-A1A0792AE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22A39-0E5C-426C-9BA2-13A905ECF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EDF14-73F4-4121-BE5D-1ECE6D55B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D20EF-1821-4F6E-BE39-DAAF51255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EF290-41C7-4247-B88B-BC48BF7F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6952E-1569-4A38-A6B8-BD680609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4379964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3926E-F06C-48B0-B632-334848436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F4403-35D8-455F-BC79-0331C0911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652B2-76AB-47CB-8BE2-0E6B8720B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105867-25EB-433D-A6BF-87FEADDCF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AB248-11BB-4A5A-9CA4-2AB9E92F1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5A3AC-ED4C-4E0C-8609-E4D534B4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C8A71B-2FB0-469D-AA7A-7007C290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61F06-994C-470E-89D0-D91DD18EA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5414896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DF6B-692E-4D79-9217-52F857831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8A391-00B8-4042-8B94-D41BB9DCB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A6E7F-8253-4D99-99B7-0DD59B63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6FE0C-C1E1-4448-8742-2C658884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155914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D47629-EEC9-4B5D-A6E3-0009D7EF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2D0E8F-EFB0-49FA-AF85-296007D1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00571-5786-431E-9968-C84E2766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11577582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02116-CA3C-49D7-BBCF-CC46E2988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62980-EA99-4CF4-8565-F4CB72CAA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A8693-EDE0-41A8-A94D-1E858E295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375A4-3951-44A9-8D1E-4BC35EC8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DA968-1946-4EF7-A103-856254572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F7A03-E954-4402-ACF7-6FA4D5E2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4213981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50E29-9230-4A55-A19F-95302C42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B9434-7A3F-48CA-B481-F0E72F3CB8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021BC-908C-4842-8DEF-4AE5AE6A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7D50F-F8BB-4AA8-8182-672A6FB1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EDB43-E2FA-41A3-9F7C-FE04705A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031B7-2DDB-4F7C-BF56-37DB3B01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18817241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228AA-9658-4DF1-A4BE-B76743D4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0B094-4E99-4867-8BE6-A06035EE4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361CC-9E7A-4BCC-B9DE-A8A4B1BC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0B93A-9840-4E4A-8DFB-18E68F33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722-2683-423F-A248-D76C4360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0976757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B8DE8-8B49-426B-8E2D-150FC260A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474E7-AC26-4BD5-8885-12D5D5ACC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D862-725B-4D07-8117-F9B21997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78F24-FD46-4F26-AA60-030E1DD1D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CD1B0-BFF8-4109-AD41-DDAC5169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08297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4EA1C-FD9D-40CF-BB31-29562C39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5B87A-9519-4DD9-B998-150626D74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07550-AC19-45B9-AAA9-A7230267A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C1B08-9B43-40B8-BD8C-3A1377C979A9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F052D-AF6B-4F3C-A885-9AF509F5E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6FDB2-917A-43A5-8D3C-77C2E9FAF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9C093-4A95-4B93-93DA-F9AE5A068462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1110294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67819-8EE1-4770-97E1-384905D3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690E2-F623-4D83-9D96-F5BA4E7C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D03A3-919B-40F6-960C-522F299F3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18502-5DBD-44B1-9771-1640083654E5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44F9B-253E-4E0A-8536-9EFAA9EC0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8902B-89C7-4FD7-889A-89820CF25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E7903-E6A1-4668-A94C-AAE7F30D99A3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169225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5C8EB-50AD-4C6A-9740-B5B549A80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26A02-43AB-4B46-A817-162F4D4AA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8F2D3-4174-46AB-B7C7-6EE5699CC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5C2E5-B4D2-4477-96A2-A8DC239DC981}" type="datetimeFigureOut">
              <a:rPr lang="en-BB" smtClean="0"/>
              <a:t>10/22/2025</a:t>
            </a:fld>
            <a:endParaRPr lang="en-B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2A4A9-695F-4FFF-B6AA-73D644618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FF163-3CC4-4DC2-9E8C-CB153DF92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77210-1F11-44F8-B381-F65F9335D09C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30675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3256-A03E-44AD-ABE8-3AE8B4EC3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200" y="1701225"/>
            <a:ext cx="11963400" cy="584776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rgbClr val="1832C5"/>
                </a:solidFill>
                <a:latin typeface="+mn-lt"/>
              </a:rPr>
              <a:t>xxxx</a:t>
            </a:r>
            <a:endParaRPr lang="en-BB" sz="4000" b="1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4B7B22-9195-461B-BBF4-1F37AC7615A9}"/>
              </a:ext>
            </a:extLst>
          </p:cNvPr>
          <p:cNvSpPr txBox="1"/>
          <p:nvPr/>
        </p:nvSpPr>
        <p:spPr>
          <a:xfrm>
            <a:off x="8305800" y="3879399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u="sng" dirty="0" err="1">
                <a:solidFill>
                  <a:srgbClr val="1832C5"/>
                </a:solidFill>
              </a:rPr>
              <a:t>Thiliban</a:t>
            </a:r>
            <a:r>
              <a:rPr lang="en-US" sz="3200" i="1" u="sng" dirty="0">
                <a:solidFill>
                  <a:srgbClr val="1832C5"/>
                </a:solidFill>
              </a:rPr>
              <a:t> </a:t>
            </a:r>
            <a:r>
              <a:rPr lang="en-US" sz="3200" i="1" u="sng" dirty="0" err="1">
                <a:solidFill>
                  <a:srgbClr val="1832C5"/>
                </a:solidFill>
              </a:rPr>
              <a:t>Manivarma</a:t>
            </a:r>
            <a:r>
              <a:rPr lang="en-US" sz="2800" i="1" dirty="0">
                <a:solidFill>
                  <a:srgbClr val="1832C5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0FF9E-68EE-4A8A-8E1D-D8168EF5B035}"/>
              </a:ext>
            </a:extLst>
          </p:cNvPr>
          <p:cNvSpPr txBox="1"/>
          <p:nvPr/>
        </p:nvSpPr>
        <p:spPr>
          <a:xfrm>
            <a:off x="8915400" y="0"/>
            <a:ext cx="331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err="1">
                <a:solidFill>
                  <a:srgbClr val="1832C5"/>
                </a:solidFill>
              </a:rPr>
              <a:t>xyz</a:t>
            </a:r>
            <a:r>
              <a:rPr lang="en-US" sz="2400" i="1" dirty="0">
                <a:solidFill>
                  <a:srgbClr val="1832C5"/>
                </a:solidFill>
              </a:rPr>
              <a:t>, 23.10.2025</a:t>
            </a:r>
            <a:endParaRPr lang="en-US" sz="2000" i="1" dirty="0">
              <a:solidFill>
                <a:srgbClr val="1832C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0E91EB-2569-3EEA-C4D3-700400996F8A}"/>
              </a:ext>
            </a:extLst>
          </p:cNvPr>
          <p:cNvSpPr txBox="1"/>
          <p:nvPr/>
        </p:nvSpPr>
        <p:spPr>
          <a:xfrm>
            <a:off x="114300" y="5418386"/>
            <a:ext cx="11963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832C5"/>
                </a:solidFill>
              </a:rPr>
              <a:t>Ph.D. – Computational biophysics</a:t>
            </a:r>
            <a:r>
              <a:rPr lang="en-US" sz="2000" b="1" dirty="0">
                <a:solidFill>
                  <a:srgbClr val="1E8C32"/>
                </a:solidFill>
              </a:rPr>
              <a:t>, </a:t>
            </a:r>
            <a:r>
              <a:rPr lang="en-US" sz="2000" dirty="0"/>
              <a:t>Nicolaus Copernicus University in Torun, Poland,  </a:t>
            </a:r>
            <a:r>
              <a:rPr lang="en-US" sz="2000" b="1" dirty="0">
                <a:solidFill>
                  <a:srgbClr val="1832C5"/>
                </a:solidFill>
              </a:rPr>
              <a:t>Sep. 2020 – Jan. 2025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1832C5"/>
                </a:solidFill>
              </a:rPr>
              <a:t>M.Tech</a:t>
            </a:r>
            <a:r>
              <a:rPr lang="en-US" sz="2000" b="1" dirty="0">
                <a:solidFill>
                  <a:srgbClr val="1832C5"/>
                </a:solidFill>
              </a:rPr>
              <a:t>. - Computational Biology</a:t>
            </a:r>
            <a:r>
              <a:rPr lang="en-US" sz="2000" dirty="0">
                <a:solidFill>
                  <a:srgbClr val="1E8C32"/>
                </a:solidFill>
              </a:rPr>
              <a:t>, </a:t>
            </a:r>
            <a:r>
              <a:rPr lang="en-US" sz="2000" dirty="0"/>
              <a:t>Anna University, Chennai, India, </a:t>
            </a:r>
            <a:r>
              <a:rPr lang="en-US" sz="2000" b="1" dirty="0">
                <a:solidFill>
                  <a:srgbClr val="1832C5"/>
                </a:solidFill>
              </a:rPr>
              <a:t>Oct. 2018 – May. 2020</a:t>
            </a:r>
            <a:endParaRPr lang="en-US" sz="2000" b="1" i="1" dirty="0">
              <a:solidFill>
                <a:srgbClr val="1832C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832C5"/>
                </a:solidFill>
              </a:rPr>
              <a:t>B.Tech. - Pharmaceutical technology</a:t>
            </a:r>
            <a:r>
              <a:rPr lang="en-US" sz="2000" dirty="0">
                <a:solidFill>
                  <a:srgbClr val="1E8C32"/>
                </a:solidFill>
              </a:rPr>
              <a:t>, </a:t>
            </a:r>
            <a:r>
              <a:rPr lang="en-US" sz="2000" dirty="0"/>
              <a:t>Anna University, Chennai, India, </a:t>
            </a:r>
            <a:r>
              <a:rPr lang="en-US" sz="2000" b="1" dirty="0">
                <a:solidFill>
                  <a:srgbClr val="1832C5"/>
                </a:solidFill>
              </a:rPr>
              <a:t>Sep. 2014 – Sep. 2018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FBEF54-D1E1-63F6-2EAD-40D34F18CF23}"/>
              </a:ext>
            </a:extLst>
          </p:cNvPr>
          <p:cNvSpPr txBox="1"/>
          <p:nvPr/>
        </p:nvSpPr>
        <p:spPr>
          <a:xfrm>
            <a:off x="7961" y="4895166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Qualifications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680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AF739-2B33-88BD-3281-C066BD49A1C2}"/>
              </a:ext>
            </a:extLst>
          </p:cNvPr>
          <p:cNvSpPr txBox="1"/>
          <p:nvPr/>
        </p:nvSpPr>
        <p:spPr>
          <a:xfrm>
            <a:off x="171450" y="914400"/>
            <a:ext cx="118491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Challenge: Traditional Drug Discovery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Slow, costly, and labor-intensive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Low hit rates from wet-lab compound screening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10–15 years and billions of dollars per drug candidate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The Shift: Data-Driven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AI/ML models simulate experiments before lab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chemical, biological, and historical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Techniques: deep learning, GNNs, transformers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Predict molecular interactions and binding affinities</a:t>
            </a:r>
          </a:p>
          <a:p>
            <a:endParaRPr lang="en-US" sz="2000" dirty="0"/>
          </a:p>
          <a:p>
            <a:r>
              <a:rPr lang="en-US" sz="2000" b="1" dirty="0"/>
              <a:t>The Impact: Faster, Smarter Discovery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Rapid identification of drug targets and lead compounds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Supports precision medicine and drug repurposing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AI-first pipelines reaching clinical trials (e.g., </a:t>
            </a:r>
            <a:r>
              <a:rPr lang="en-US" sz="2000" dirty="0" err="1"/>
              <a:t>Insilico</a:t>
            </a:r>
            <a:r>
              <a:rPr lang="en-US" sz="2000" dirty="0"/>
              <a:t>, </a:t>
            </a:r>
            <a:r>
              <a:rPr lang="en-US" sz="2000" dirty="0" err="1"/>
              <a:t>BenevolentAI</a:t>
            </a:r>
            <a:r>
              <a:rPr lang="en-US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Models now simulate protein–protein interactions, membrane transport, and pharmacophore optimization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0AEFC-9CEC-8105-823F-B6A31B5D02BB}"/>
              </a:ext>
            </a:extLst>
          </p:cNvPr>
          <p:cNvSpPr txBox="1"/>
          <p:nvPr/>
        </p:nvSpPr>
        <p:spPr>
          <a:xfrm>
            <a:off x="21020" y="34159"/>
            <a:ext cx="12628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Transforming Drug Discovery with AI/ML: From Trial-and-Error to Predictive Power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6928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44F7F639-E2B2-35E8-DA70-869639420E9B}"/>
              </a:ext>
            </a:extLst>
          </p:cNvPr>
          <p:cNvSpPr txBox="1"/>
          <p:nvPr/>
        </p:nvSpPr>
        <p:spPr>
          <a:xfrm>
            <a:off x="201009" y="920621"/>
            <a:ext cx="11811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1990s: The Foundation</a:t>
            </a:r>
          </a:p>
          <a:p>
            <a:r>
              <a:rPr lang="en-US" sz="2000" b="1" dirty="0"/>
              <a:t>Focus:</a:t>
            </a:r>
            <a:r>
              <a:rPr lang="en-US" sz="2000" dirty="0"/>
              <a:t> Digital Representation of Molecules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Molecular Descriptors</a:t>
            </a:r>
            <a:r>
              <a:rPr lang="en-US" sz="2000" dirty="0"/>
              <a:t>: Quantify properties like molecular weight, </a:t>
            </a:r>
            <a:r>
              <a:rPr lang="en-US" sz="2000" dirty="0" err="1"/>
              <a:t>logP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SMILES Notation</a:t>
            </a:r>
            <a:r>
              <a:rPr lang="en-US" sz="2000" dirty="0"/>
              <a:t>: Compact string format for molecular structures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Impact</a:t>
            </a:r>
            <a:r>
              <a:rPr lang="en-US" sz="2000" dirty="0"/>
              <a:t>: Enabled searchable chemical databases and basic computational analysis</a:t>
            </a:r>
          </a:p>
          <a:p>
            <a:endParaRPr lang="en-US" sz="2000" dirty="0"/>
          </a:p>
          <a:p>
            <a:r>
              <a:rPr lang="en-US" sz="2000" b="1" dirty="0"/>
              <a:t>2000s: The Rise of Prediction</a:t>
            </a:r>
          </a:p>
          <a:p>
            <a:r>
              <a:rPr lang="en-US" sz="2000" b="1" dirty="0"/>
              <a:t>Focus:</a:t>
            </a:r>
            <a:r>
              <a:rPr lang="en-US" sz="2000" dirty="0"/>
              <a:t> Statistical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QSAR Models</a:t>
            </a:r>
            <a:r>
              <a:rPr lang="en-US" sz="2000" dirty="0"/>
              <a:t>: Predict biological activity from numerical descriptors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Impact</a:t>
            </a:r>
            <a:r>
              <a:rPr lang="en-US" sz="2000" dirty="0"/>
              <a:t>: Enabled virtual screening and early prioritization of drug candidates</a:t>
            </a:r>
          </a:p>
          <a:p>
            <a:endParaRPr lang="en-US" sz="2000" dirty="0"/>
          </a:p>
          <a:p>
            <a:r>
              <a:rPr lang="en-US" sz="2000" b="1" dirty="0"/>
              <a:t>2010s–Now: The AI Revolution</a:t>
            </a:r>
          </a:p>
          <a:p>
            <a:r>
              <a:rPr lang="en-US" sz="2000" b="1" dirty="0"/>
              <a:t>Focus:</a:t>
            </a:r>
            <a:r>
              <a:rPr lang="en-US" sz="2000" dirty="0"/>
              <a:t> Learning Complex Molecular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Deep Learning</a:t>
            </a:r>
            <a:r>
              <a:rPr lang="en-US" sz="2000" dirty="0"/>
              <a:t>: Learns directly from molecular graphs and structures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Impact</a:t>
            </a:r>
            <a:r>
              <a:rPr lang="en-US" sz="2000" dirty="0"/>
              <a:t>: Boosted accuracy in predicting properties, reactions, and interactions</a:t>
            </a:r>
          </a:p>
          <a:p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7A9BEA-4066-6B3B-EB6A-5E17CD54A93E}"/>
              </a:ext>
            </a:extLst>
          </p:cNvPr>
          <p:cNvSpPr txBox="1"/>
          <p:nvPr/>
        </p:nvSpPr>
        <p:spPr>
          <a:xfrm>
            <a:off x="21020" y="34159"/>
            <a:ext cx="1217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Evolution of AI in Drug Discovery: From Descriptors to Deep Learning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003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D4C2E3-E0B5-0326-CD99-5ECFAEE2BA54}"/>
              </a:ext>
            </a:extLst>
          </p:cNvPr>
          <p:cNvSpPr txBox="1"/>
          <p:nvPr/>
        </p:nvSpPr>
        <p:spPr>
          <a:xfrm>
            <a:off x="1219200" y="0"/>
            <a:ext cx="2049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Classical ML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1C03E-09A9-26D5-8F92-D2F539C23B0C}"/>
              </a:ext>
            </a:extLst>
          </p:cNvPr>
          <p:cNvSpPr txBox="1"/>
          <p:nvPr/>
        </p:nvSpPr>
        <p:spPr>
          <a:xfrm>
            <a:off x="7848600" y="0"/>
            <a:ext cx="27615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Transfer learning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654F4-7048-0190-013D-7B8B145BB6CF}"/>
              </a:ext>
            </a:extLst>
          </p:cNvPr>
          <p:cNvSpPr txBox="1"/>
          <p:nvPr/>
        </p:nvSpPr>
        <p:spPr>
          <a:xfrm>
            <a:off x="1676400" y="914400"/>
            <a:ext cx="838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Family Tree Analogy for ML &amp; Transfer Learning🍼 The Baby = ML </a:t>
            </a:r>
            <a:r>
              <a:rPr lang="en-US" dirty="0" err="1"/>
              <a:t>ModelThe</a:t>
            </a:r>
            <a:r>
              <a:rPr lang="en-US" dirty="0"/>
              <a:t> baby represents your machine learning </a:t>
            </a:r>
            <a:r>
              <a:rPr lang="en-US" dirty="0" err="1"/>
              <a:t>model.It</a:t>
            </a:r>
            <a:r>
              <a:rPr lang="en-US" dirty="0"/>
              <a:t> learns by observing and interacting with its environment.👨‍👩 Parents = Training Data (Classical ML)In classical ML, the baby learns cooking only from the </a:t>
            </a:r>
            <a:r>
              <a:rPr lang="en-US" dirty="0" err="1"/>
              <a:t>parents.The</a:t>
            </a:r>
            <a:r>
              <a:rPr lang="en-US" dirty="0"/>
              <a:t> parents teach basic recipes and techniques from </a:t>
            </a:r>
            <a:r>
              <a:rPr lang="en-US" dirty="0" err="1"/>
              <a:t>scratch.The</a:t>
            </a:r>
            <a:r>
              <a:rPr lang="en-US" dirty="0"/>
              <a:t> baby builds understanding step-by-step, based solely on what the parents </a:t>
            </a:r>
            <a:r>
              <a:rPr lang="en-US" dirty="0" err="1"/>
              <a:t>provide.Analogy:The</a:t>
            </a:r>
            <a:r>
              <a:rPr lang="en-US" dirty="0"/>
              <a:t> baby learns to cook by watching and practicing with the parents—starting from zero.ML </a:t>
            </a:r>
            <a:r>
              <a:rPr lang="en-US" dirty="0" err="1"/>
              <a:t>Parallel:Training</a:t>
            </a:r>
            <a:r>
              <a:rPr lang="en-US" dirty="0"/>
              <a:t> a model from scratch using only your in-house dataset.👵👴 Grandparents = Pretrained Models (Transfer Learning)In transfer learning, the baby learns from the grandparents, who are expert </a:t>
            </a:r>
            <a:r>
              <a:rPr lang="en-US" dirty="0" err="1"/>
              <a:t>cooks.The</a:t>
            </a:r>
            <a:r>
              <a:rPr lang="en-US" dirty="0"/>
              <a:t> grandparents have decades of experience and pass down general cooking </a:t>
            </a:r>
            <a:r>
              <a:rPr lang="en-US" dirty="0" err="1"/>
              <a:t>wisdom.The</a:t>
            </a:r>
            <a:r>
              <a:rPr lang="en-US" dirty="0"/>
              <a:t> baby then adapts this knowledge to the parents’ kitchen and </a:t>
            </a:r>
            <a:r>
              <a:rPr lang="en-US" dirty="0" err="1"/>
              <a:t>ingredients.Analogy:The</a:t>
            </a:r>
            <a:r>
              <a:rPr lang="en-US" dirty="0"/>
              <a:t> baby inherits cooking skills from the grandparents and fine-tunes them with the parents’ help.ML </a:t>
            </a:r>
            <a:r>
              <a:rPr lang="en-US" dirty="0" err="1"/>
              <a:t>Parallel:Using</a:t>
            </a:r>
            <a:r>
              <a:rPr lang="en-US" dirty="0"/>
              <a:t> a pretrained model (e.g., trained on millions of molecules) and fine-tuning it for your specific task (e.g., P4HA1 interaction prediction).✅ Why This Analogy </a:t>
            </a:r>
            <a:r>
              <a:rPr lang="en-US" dirty="0" err="1"/>
              <a:t>WorksClassical</a:t>
            </a:r>
            <a:r>
              <a:rPr lang="en-US" dirty="0"/>
              <a:t> ML = Learning from </a:t>
            </a:r>
            <a:r>
              <a:rPr lang="en-US" dirty="0" err="1"/>
              <a:t>scratchTransfer</a:t>
            </a:r>
            <a:r>
              <a:rPr lang="en-US" dirty="0"/>
              <a:t> Learning = Inheriting general knowledge and adapting </a:t>
            </a:r>
            <a:r>
              <a:rPr lang="en-US" dirty="0" err="1"/>
              <a:t>itIt</a:t>
            </a:r>
            <a:r>
              <a:rPr lang="en-US" dirty="0"/>
              <a:t> shows how experience and context shape learning efficiency</a:t>
            </a:r>
          </a:p>
        </p:txBody>
      </p:sp>
    </p:spTree>
    <p:extLst>
      <p:ext uri="{BB962C8B-B14F-4D97-AF65-F5344CB8AC3E}">
        <p14:creationId xmlns:p14="http://schemas.microsoft.com/office/powerpoint/2010/main" val="1761086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FBEEAF-1A70-6929-3F0B-9D097B798EB5}"/>
              </a:ext>
            </a:extLst>
          </p:cNvPr>
          <p:cNvSpPr txBox="1"/>
          <p:nvPr/>
        </p:nvSpPr>
        <p:spPr>
          <a:xfrm>
            <a:off x="76200" y="533400"/>
            <a:ext cx="11811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Core Concept: Learning from Known to Predict the Unknown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models are trained on large datasets of known molecules and their 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learn patterns and relationships to predict behavior of new, unseen compounds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 Flow: </a:t>
            </a:r>
            <a:r>
              <a:rPr lang="en-US" b="1" dirty="0"/>
              <a:t>Known Molecular Data (Input)</a:t>
            </a:r>
            <a:r>
              <a:rPr lang="en-US" dirty="0"/>
              <a:t> → </a:t>
            </a:r>
            <a:r>
              <a:rPr lang="en-US" b="1" dirty="0"/>
              <a:t>AI Model (Brain)</a:t>
            </a:r>
            <a:r>
              <a:rPr lang="en-US" dirty="0"/>
              <a:t> → </a:t>
            </a:r>
            <a:r>
              <a:rPr lang="en-US" b="1" dirty="0"/>
              <a:t>Predictions for New Molecules (Output)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B23EE-CED2-2150-25CA-70BBD102C185}"/>
              </a:ext>
            </a:extLst>
          </p:cNvPr>
          <p:cNvSpPr txBox="1"/>
          <p:nvPr/>
        </p:nvSpPr>
        <p:spPr>
          <a:xfrm>
            <a:off x="99848" y="1905000"/>
            <a:ext cx="11811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Applications of AI in Molecular Prediction</a:t>
            </a:r>
          </a:p>
          <a:p>
            <a:r>
              <a:rPr lang="en-US" b="1" dirty="0"/>
              <a:t>🧪 1. Toxicity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does</a:t>
            </a:r>
            <a:r>
              <a:rPr lang="en-US" dirty="0"/>
              <a:t>: Flags molecules likely to be toxic or cause side effects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Benefit</a:t>
            </a:r>
            <a:r>
              <a:rPr lang="en-US" dirty="0"/>
              <a:t>: Filters out harmful candidates early, improving safety</a:t>
            </a:r>
          </a:p>
          <a:p>
            <a:r>
              <a:rPr lang="en-US" b="1" dirty="0"/>
              <a:t>⚗️ 2. Reactivity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does</a:t>
            </a:r>
            <a:r>
              <a:rPr lang="en-US" dirty="0"/>
              <a:t>: Forecasts how a molecule will behave in chemical reactions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Benefit</a:t>
            </a:r>
            <a:r>
              <a:rPr lang="en-US" dirty="0"/>
              <a:t>: Enables efficient, safer synthesis planning</a:t>
            </a:r>
          </a:p>
          <a:p>
            <a:r>
              <a:rPr lang="en-US" b="1" dirty="0"/>
              <a:t>🎯 3. Bioactivity Scoring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does</a:t>
            </a:r>
            <a:r>
              <a:rPr lang="en-US" dirty="0"/>
              <a:t>: Estimates binding strength to biological targets (e.g., disease-related proteins)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Benefit</a:t>
            </a:r>
            <a:r>
              <a:rPr lang="en-US" dirty="0"/>
              <a:t>: Ranks molecules by drug potential, guiding lead selection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42DDC-58E0-33B5-606F-00FA900C0BB5}"/>
              </a:ext>
            </a:extLst>
          </p:cNvPr>
          <p:cNvSpPr txBox="1"/>
          <p:nvPr/>
        </p:nvSpPr>
        <p:spPr>
          <a:xfrm>
            <a:off x="99848" y="4938593"/>
            <a:ext cx="10034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Bottom Line: Informed Prioritization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triages vast chemical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Focuses lab efforts on the most promising, safe, and effective compounds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Speeds up discovery and reduces experimental waste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F4C78-0195-A0EE-B12C-EE9DA381AA90}"/>
              </a:ext>
            </a:extLst>
          </p:cNvPr>
          <p:cNvSpPr txBox="1"/>
          <p:nvPr/>
        </p:nvSpPr>
        <p:spPr>
          <a:xfrm>
            <a:off x="21020" y="34159"/>
            <a:ext cx="1217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How AI Predicts Molecular Behavior in Drug Discovery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65232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1FD4C6-E9D4-00E1-7E9F-531646A785FF}"/>
              </a:ext>
            </a:extLst>
          </p:cNvPr>
          <p:cNvSpPr txBox="1"/>
          <p:nvPr/>
        </p:nvSpPr>
        <p:spPr>
          <a:xfrm>
            <a:off x="152400" y="1028343"/>
            <a:ext cx="11658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QSAR (Quantitative Structure–Activity Relationship)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</a:t>
            </a:r>
            <a:r>
              <a:rPr lang="en-US" dirty="0"/>
              <a:t>: Statistical model linking molecular features (e.g., size, shape, polarity) to biological 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Analogy</a:t>
            </a:r>
            <a:r>
              <a:rPr lang="en-US" dirty="0"/>
              <a:t>: Predicting a car’s top speed from engine power and 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Optimizing lead compounds by predicting how structural tweaks affect potency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Visual</a:t>
            </a:r>
            <a:r>
              <a:rPr lang="en-US" dirty="0"/>
              <a:t>: Graph icon showing correlation between descriptors and activity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🔍 2. Virtual Screening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</a:t>
            </a:r>
            <a:r>
              <a:rPr lang="en-US" dirty="0"/>
              <a:t>: Rapid computational search through millions of compounds to find likely binders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Analogy</a:t>
            </a:r>
            <a:r>
              <a:rPr lang="en-US" dirty="0"/>
              <a:t>: Like a spam filter sorting thousands of emails to find the important 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Identifying promising starting points from vast chemical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Visual</a:t>
            </a:r>
            <a:r>
              <a:rPr lang="en-US" dirty="0"/>
              <a:t>: Funnel icon representing filtering process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🔐 3. Molecular Docking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</a:t>
            </a:r>
            <a:r>
              <a:rPr lang="en-US" dirty="0"/>
              <a:t>: Predicts how a small molecule fits into a protein’s active site in 3D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Analogy</a:t>
            </a:r>
            <a:r>
              <a:rPr lang="en-US" dirty="0"/>
              <a:t>: Simulating how a key fits into a lock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Understanding binding mode and affinity to guide drug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Visual</a:t>
            </a:r>
            <a:r>
              <a:rPr lang="en-US" dirty="0"/>
              <a:t>: Lock-and-key icon showing ligand–protein interaction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3CB5D-FB49-B1B0-69C0-73D581C4EE2D}"/>
              </a:ext>
            </a:extLst>
          </p:cNvPr>
          <p:cNvSpPr txBox="1"/>
          <p:nvPr/>
        </p:nvSpPr>
        <p:spPr>
          <a:xfrm>
            <a:off x="21020" y="34159"/>
            <a:ext cx="1217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Core Techniques in Action: AI-Powered Drug Discovery Pipeline</a:t>
            </a:r>
          </a:p>
        </p:txBody>
      </p:sp>
    </p:spTree>
    <p:extLst>
      <p:ext uri="{BB962C8B-B14F-4D97-AF65-F5344CB8AC3E}">
        <p14:creationId xmlns:p14="http://schemas.microsoft.com/office/powerpoint/2010/main" val="4271412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856EF7-6343-4F8C-94D1-1A6074F4BD8C}"/>
              </a:ext>
            </a:extLst>
          </p:cNvPr>
          <p:cNvSpPr txBox="1"/>
          <p:nvPr/>
        </p:nvSpPr>
        <p:spPr>
          <a:xfrm>
            <a:off x="21020" y="34159"/>
            <a:ext cx="1217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Language of Molecular AI: How Computers Understand Chemistry</a:t>
            </a:r>
            <a:endParaRPr lang="en-US" sz="28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FD4EE9F-21EF-71C4-A36C-9AFEF8FE8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20" y="838200"/>
            <a:ext cx="94277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1. SMILES (Simplified Molecular-Input Line-Entry System)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Concept: ASCII string that encodes molecular structure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Example: C1=CC=CC=C1 → Benzene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Purpose: Compact, human-readable format for storing and exchanging chemical structures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Use Case: Input for databases, cheminformatics tools, and generative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24D0B-2983-46CB-B4DD-D7E9B403195F}"/>
              </a:ext>
            </a:extLst>
          </p:cNvPr>
          <p:cNvSpPr txBox="1"/>
          <p:nvPr/>
        </p:nvSpPr>
        <p:spPr>
          <a:xfrm>
            <a:off x="533400" y="2587271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2. Molecular Fingerprints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Concept</a:t>
            </a:r>
            <a:r>
              <a:rPr lang="en-US"/>
              <a:t>: Binary vector (0s and 1s) encoding molecular features or substructures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Analogy</a:t>
            </a:r>
            <a:r>
              <a:rPr lang="en-US"/>
              <a:t>: Like a barcode for a molecule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Purpose</a:t>
            </a:r>
            <a:r>
              <a:rPr lang="en-US"/>
              <a:t>: Enables fast similarity searches and powers classic ML models (e.g., QSAR)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Use Case</a:t>
            </a:r>
            <a:r>
              <a:rPr lang="en-US"/>
              <a:t>: Virtual screening, clustering, and classification tasks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191C4E-7613-4E09-556A-59FF291A1469}"/>
              </a:ext>
            </a:extLst>
          </p:cNvPr>
          <p:cNvSpPr txBox="1"/>
          <p:nvPr/>
        </p:nvSpPr>
        <p:spPr>
          <a:xfrm>
            <a:off x="457200" y="4401755"/>
            <a:ext cx="1203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Graph Neural Networks (GNNs)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Concept</a:t>
            </a:r>
            <a:r>
              <a:rPr lang="en-US" dirty="0"/>
              <a:t>: Molecule as a graph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Nodes</a:t>
            </a:r>
            <a:r>
              <a:rPr lang="en-US" dirty="0"/>
              <a:t> = Atoms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Edges</a:t>
            </a:r>
            <a:r>
              <a:rPr lang="en-US" dirty="0"/>
              <a:t> = Bonds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Deep learning models learn directly from molecular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</a:t>
            </a:r>
            <a:r>
              <a:rPr lang="en-US" dirty="0"/>
              <a:t>: Captures complex patterns beyond what fingerprints can represent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Predicting bioactivity, toxicity, and reaction outcomes</a:t>
            </a:r>
          </a:p>
        </p:txBody>
      </p:sp>
    </p:spTree>
    <p:extLst>
      <p:ext uri="{BB962C8B-B14F-4D97-AF65-F5344CB8AC3E}">
        <p14:creationId xmlns:p14="http://schemas.microsoft.com/office/powerpoint/2010/main" val="2573380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1EA2FB-825E-CFFE-1F6C-5F597FCC1CAD}"/>
              </a:ext>
            </a:extLst>
          </p:cNvPr>
          <p:cNvSpPr txBox="1"/>
          <p:nvPr/>
        </p:nvSpPr>
        <p:spPr>
          <a:xfrm>
            <a:off x="228600" y="1066800"/>
            <a:ext cx="1165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RDKit</a:t>
            </a:r>
            <a:r>
              <a:rPr lang="en-US" b="1" dirty="0"/>
              <a:t>: The Cheminformatics Workhorse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</a:t>
            </a:r>
            <a:r>
              <a:rPr lang="en-US" dirty="0"/>
              <a:t>: Open-source toolkit for molecular data handling and ML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Primary Use</a:t>
            </a:r>
            <a:r>
              <a:rPr lang="en-US" dirty="0"/>
              <a:t>: Descriptor calculation, fingerprint generation, file I/O, model building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Impact</a:t>
            </a:r>
            <a:r>
              <a:rPr lang="en-US" dirty="0"/>
              <a:t>: The “Swiss army knife” of cheminformatics—foundational for AI pipelines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1A63E-C886-9CD6-CE83-0FB55AB0A2CE}"/>
              </a:ext>
            </a:extLst>
          </p:cNvPr>
          <p:cNvSpPr txBox="1"/>
          <p:nvPr/>
        </p:nvSpPr>
        <p:spPr>
          <a:xfrm>
            <a:off x="21020" y="34159"/>
            <a:ext cx="1217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Language of Molecular AI: How Computers Understand Chemistry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CBC88-4BB1-84DF-97BF-C0C40B203F86}"/>
              </a:ext>
            </a:extLst>
          </p:cNvPr>
          <p:cNvSpPr txBox="1"/>
          <p:nvPr/>
        </p:nvSpPr>
        <p:spPr>
          <a:xfrm>
            <a:off x="204952" y="2577940"/>
            <a:ext cx="61485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DeepChem</a:t>
            </a:r>
            <a:r>
              <a:rPr lang="en-US" b="1" dirty="0"/>
              <a:t>: Democratizing Deep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</a:t>
            </a:r>
            <a:r>
              <a:rPr lang="en-US" dirty="0"/>
              <a:t>: Open-source platform for deep learning in life sciences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Primary Use</a:t>
            </a:r>
            <a:r>
              <a:rPr lang="en-US" dirty="0"/>
              <a:t>: Training models like GNNs for toxicity, drug discovery, and materials science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Impact</a:t>
            </a:r>
            <a:r>
              <a:rPr lang="en-US" dirty="0"/>
              <a:t>: Makes cutting-edge AI accessible to chemists without deep coding expertise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75A2F-749E-1A64-4870-C4EF264B8736}"/>
              </a:ext>
            </a:extLst>
          </p:cNvPr>
          <p:cNvSpPr txBox="1"/>
          <p:nvPr/>
        </p:nvSpPr>
        <p:spPr>
          <a:xfrm>
            <a:off x="204952" y="4724400"/>
            <a:ext cx="61485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AlphaFold: A Structural Biology Revolution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</a:t>
            </a:r>
            <a:r>
              <a:rPr lang="en-US" dirty="0"/>
              <a:t>: DeepMind’s protein structure prediction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Primary Use</a:t>
            </a:r>
            <a:r>
              <a:rPr lang="en-US" dirty="0"/>
              <a:t>: Predicts 3D protein structures with near-experimental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Impact</a:t>
            </a:r>
            <a:r>
              <a:rPr lang="en-US" dirty="0"/>
              <a:t>: Accelerates understanding of disease mechanisms and drug design</a:t>
            </a:r>
          </a:p>
        </p:txBody>
      </p:sp>
    </p:spTree>
    <p:extLst>
      <p:ext uri="{BB962C8B-B14F-4D97-AF65-F5344CB8AC3E}">
        <p14:creationId xmlns:p14="http://schemas.microsoft.com/office/powerpoint/2010/main" val="2722983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BACEC3-519F-CADA-62E0-90BCB7290AB1}"/>
              </a:ext>
            </a:extLst>
          </p:cNvPr>
          <p:cNvSpPr txBox="1"/>
          <p:nvPr/>
        </p:nvSpPr>
        <p:spPr>
          <a:xfrm>
            <a:off x="21020" y="34159"/>
            <a:ext cx="1217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Future of Predictive Chemistry: AI as a Design Partner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AA975-B9CE-C005-C3C6-48F98D46C67D}"/>
              </a:ext>
            </a:extLst>
          </p:cNvPr>
          <p:cNvSpPr txBox="1"/>
          <p:nvPr/>
        </p:nvSpPr>
        <p:spPr>
          <a:xfrm>
            <a:off x="21020" y="685800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Convergence: Chemistry Meets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Smarter Discovery</a:t>
            </a:r>
            <a:r>
              <a:rPr lang="en-US" dirty="0"/>
              <a:t>: AI analyzes data beyond human capability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Faster Innovation</a:t>
            </a:r>
            <a:r>
              <a:rPr lang="en-US" dirty="0"/>
              <a:t>: Design cycles shrink from years to weeks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Greener Science</a:t>
            </a:r>
            <a:r>
              <a:rPr lang="en-US" dirty="0"/>
              <a:t>: Reduces lab waste through virtual experimentation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7AEDF-3E88-0EE4-F0F6-941B8F497CEB}"/>
              </a:ext>
            </a:extLst>
          </p:cNvPr>
          <p:cNvSpPr txBox="1"/>
          <p:nvPr/>
        </p:nvSpPr>
        <p:spPr>
          <a:xfrm>
            <a:off x="21020" y="2228671"/>
            <a:ext cx="89653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Next Frontier: The Autonomous AI Chemist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evolves from prediction tool to </a:t>
            </a:r>
            <a:r>
              <a:rPr lang="en-US" b="1" dirty="0"/>
              <a:t>molecular designer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Future systems will autonomously generate and optimize compounds with target 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goal-driven discovery</a:t>
            </a:r>
            <a:r>
              <a:rPr lang="en-US" dirty="0"/>
              <a:t> with minimal trial-and-error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0F32BF-0592-276D-A4A5-1D6B93A4CE2D}"/>
              </a:ext>
            </a:extLst>
          </p:cNvPr>
          <p:cNvSpPr txBox="1"/>
          <p:nvPr/>
        </p:nvSpPr>
        <p:spPr>
          <a:xfrm>
            <a:off x="21020" y="3962400"/>
            <a:ext cx="8534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Ultimate Goal</a:t>
            </a:r>
          </a:p>
          <a:p>
            <a:r>
              <a:rPr lang="en-US" dirty="0"/>
              <a:t>The best experiment is the one that was predicted correctly.</a:t>
            </a:r>
          </a:p>
          <a:p>
            <a:r>
              <a:rPr lang="en-US" dirty="0"/>
              <a:t>Shifts drug discovery from chance to design.</a:t>
            </a:r>
          </a:p>
          <a:p>
            <a:r>
              <a:rPr lang="en-US" dirty="0"/>
              <a:t>Empowers chemists to focus on strategy, interpretation, and innovation</a:t>
            </a:r>
          </a:p>
        </p:txBody>
      </p:sp>
    </p:spTree>
    <p:extLst>
      <p:ext uri="{BB962C8B-B14F-4D97-AF65-F5344CB8AC3E}">
        <p14:creationId xmlns:p14="http://schemas.microsoft.com/office/powerpoint/2010/main" val="3527452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2684</TotalTime>
  <Words>1356</Words>
  <Application>Microsoft Office PowerPoint</Application>
  <PresentationFormat>Widescreen</PresentationFormat>
  <Paragraphs>124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1_Custom Design</vt:lpstr>
      <vt:lpstr>Custom Design</vt:lpstr>
      <vt:lpstr>xxxx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Me, My Research Trajectory: Computational biophysics + Computer-aided-drug-design + Machine learning</dc:title>
  <dc:creator>thiliban@o365.doktorant.umk.pl</dc:creator>
  <cp:lastModifiedBy>Thiliban Manivarma</cp:lastModifiedBy>
  <cp:revision>192</cp:revision>
  <dcterms:created xsi:type="dcterms:W3CDTF">2024-06-25T17:45:27Z</dcterms:created>
  <dcterms:modified xsi:type="dcterms:W3CDTF">2025-10-22T05:30:14Z</dcterms:modified>
</cp:coreProperties>
</file>